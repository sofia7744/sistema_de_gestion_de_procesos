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2D2B-D26A-4D46-993E-53F23E812868}" type="datetimeFigureOut">
              <a:rPr lang="es-PE" smtClean="0"/>
              <a:t>04/11/2025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F8DD-7DCF-441C-9BEF-6817389601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29743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2D2B-D26A-4D46-993E-53F23E812868}" type="datetimeFigureOut">
              <a:rPr lang="es-PE" smtClean="0"/>
              <a:t>04/11/2025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F8DD-7DCF-441C-9BEF-6817389601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69959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2D2B-D26A-4D46-993E-53F23E812868}" type="datetimeFigureOut">
              <a:rPr lang="es-PE" smtClean="0"/>
              <a:t>04/11/2025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F8DD-7DCF-441C-9BEF-6817389601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3289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2D2B-D26A-4D46-993E-53F23E812868}" type="datetimeFigureOut">
              <a:rPr lang="es-PE" smtClean="0"/>
              <a:t>04/11/2025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F8DD-7DCF-441C-9BEF-6817389601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95395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2D2B-D26A-4D46-993E-53F23E812868}" type="datetimeFigureOut">
              <a:rPr lang="es-PE" smtClean="0"/>
              <a:t>04/11/2025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F8DD-7DCF-441C-9BEF-6817389601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35612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2D2B-D26A-4D46-993E-53F23E812868}" type="datetimeFigureOut">
              <a:rPr lang="es-PE" smtClean="0"/>
              <a:t>04/11/2025</a:t>
            </a:fld>
            <a:endParaRPr lang="es-PE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F8DD-7DCF-441C-9BEF-6817389601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9089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2D2B-D26A-4D46-993E-53F23E812868}" type="datetimeFigureOut">
              <a:rPr lang="es-PE" smtClean="0"/>
              <a:t>04/11/2025</a:t>
            </a:fld>
            <a:endParaRPr lang="es-PE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F8DD-7DCF-441C-9BEF-6817389601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986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2D2B-D26A-4D46-993E-53F23E812868}" type="datetimeFigureOut">
              <a:rPr lang="es-PE" smtClean="0"/>
              <a:t>04/11/2025</a:t>
            </a:fld>
            <a:endParaRPr lang="es-PE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F8DD-7DCF-441C-9BEF-6817389601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53751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2D2B-D26A-4D46-993E-53F23E812868}" type="datetimeFigureOut">
              <a:rPr lang="es-PE" smtClean="0"/>
              <a:t>04/11/2025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F8DD-7DCF-441C-9BEF-6817389601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02604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2D2B-D26A-4D46-993E-53F23E812868}" type="datetimeFigureOut">
              <a:rPr lang="es-PE" smtClean="0"/>
              <a:t>04/11/2025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F8DD-7DCF-441C-9BEF-6817389601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33122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2D2B-D26A-4D46-993E-53F23E812868}" type="datetimeFigureOut">
              <a:rPr lang="es-PE" smtClean="0"/>
              <a:t>04/11/2025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F8DD-7DCF-441C-9BEF-6817389601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928174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2D2B-D26A-4D46-993E-53F23E812868}" type="datetimeFigureOut">
              <a:rPr lang="es-PE" smtClean="0"/>
              <a:t>04/11/2025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F8DD-7DCF-441C-9BEF-6817389601DB}" type="slidenum">
              <a:rPr lang="es-PE" smtClean="0"/>
              <a:t>‹Nº›</a:t>
            </a:fld>
            <a:endParaRPr lang="es-PE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29244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2D2B-D26A-4D46-993E-53F23E812868}" type="datetimeFigureOut">
              <a:rPr lang="es-PE" smtClean="0"/>
              <a:t>04/11/2025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F8DD-7DCF-441C-9BEF-6817389601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02881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2D2B-D26A-4D46-993E-53F23E812868}" type="datetimeFigureOut">
              <a:rPr lang="es-PE" smtClean="0"/>
              <a:t>04/11/2025</a:t>
            </a:fld>
            <a:endParaRPr lang="es-P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F8DD-7DCF-441C-9BEF-6817389601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220499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2D2B-D26A-4D46-993E-53F23E812868}" type="datetimeFigureOut">
              <a:rPr lang="es-PE" smtClean="0"/>
              <a:t>04/11/2025</a:t>
            </a:fld>
            <a:endParaRPr lang="es-P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F8DD-7DCF-441C-9BEF-6817389601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618866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2D2B-D26A-4D46-993E-53F23E812868}" type="datetimeFigureOut">
              <a:rPr lang="es-PE" smtClean="0"/>
              <a:t>04/11/2025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F8DD-7DCF-441C-9BEF-6817389601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593694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2D2B-D26A-4D46-993E-53F23E812868}" type="datetimeFigureOut">
              <a:rPr lang="es-PE" smtClean="0"/>
              <a:t>04/11/2025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F8DD-7DCF-441C-9BEF-6817389601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26951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C122D2B-D26A-4D46-993E-53F23E812868}" type="datetimeFigureOut">
              <a:rPr lang="es-PE" smtClean="0"/>
              <a:t>04/11/2025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4F8DD-7DCF-441C-9BEF-6817389601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106309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32D79-1EAB-491B-95C9-A0C5CA65E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973" y="161925"/>
            <a:ext cx="9925051" cy="1786531"/>
          </a:xfrm>
        </p:spPr>
        <p:txBody>
          <a:bodyPr/>
          <a:lstStyle/>
          <a:p>
            <a:r>
              <a:rPr lang="es-ES" sz="5000" dirty="0"/>
              <a:t>Simulación del Administrador de </a:t>
            </a:r>
            <a:endParaRPr lang="es-PE" sz="5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1B0D92-AD51-41DC-8078-C42B9986D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6879" y="1281704"/>
            <a:ext cx="9379695" cy="1786531"/>
          </a:xfrm>
        </p:spPr>
        <p:txBody>
          <a:bodyPr>
            <a:normAutofit/>
          </a:bodyPr>
          <a:lstStyle/>
          <a:p>
            <a:pPr algn="ctr"/>
            <a:r>
              <a:rPr lang="es-ES" sz="4400" b="1" dirty="0">
                <a:solidFill>
                  <a:srgbClr val="FF0000"/>
                </a:solidFill>
              </a:rPr>
              <a:t>Procesos de un sistema operativo</a:t>
            </a:r>
            <a:endParaRPr lang="es-PE" sz="4400" b="1" dirty="0">
              <a:solidFill>
                <a:srgbClr val="FF0000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6966C7A-0F0A-4B07-B626-4B0E950F255E}"/>
              </a:ext>
            </a:extLst>
          </p:cNvPr>
          <p:cNvSpPr txBox="1"/>
          <p:nvPr/>
        </p:nvSpPr>
        <p:spPr>
          <a:xfrm>
            <a:off x="708211" y="3191435"/>
            <a:ext cx="555811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Integrantes:  </a:t>
            </a:r>
            <a:r>
              <a:rPr lang="es-PE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 Lazo Gómez Sofía Adara</a:t>
            </a:r>
            <a:br>
              <a:rPr lang="es-PE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s-PE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		   - Quispe Yauri Henry Bryan</a:t>
            </a:r>
            <a:br>
              <a:rPr lang="es-PE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s-PE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		   </a:t>
            </a:r>
            <a:r>
              <a:rPr lang="es-PE" sz="2000" dirty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es-PE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PE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elasquez</a:t>
            </a:r>
            <a:r>
              <a:rPr lang="es-PE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Carhuancho </a:t>
            </a:r>
            <a:r>
              <a:rPr lang="es-PE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Angel</a:t>
            </a:r>
            <a:endParaRPr lang="es-PE" sz="20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br>
              <a:rPr lang="es-ES" sz="2000" dirty="0"/>
            </a:br>
            <a:r>
              <a:rPr lang="es-ES" sz="2000" dirty="0"/>
              <a:t>Docente: </a:t>
            </a:r>
            <a:r>
              <a:rPr lang="es-PE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Cohaila</a:t>
            </a:r>
            <a:r>
              <a:rPr lang="es-PE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Bravo </a:t>
            </a:r>
            <a:r>
              <a:rPr lang="es-PE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Ninoska</a:t>
            </a:r>
            <a:r>
              <a:rPr lang="es-PE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PE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Nataly</a:t>
            </a:r>
            <a:br>
              <a:rPr lang="es-ES" sz="2000" dirty="0"/>
            </a:br>
            <a:br>
              <a:rPr lang="es-ES" sz="2000" dirty="0"/>
            </a:br>
            <a:r>
              <a:rPr lang="es-ES" sz="2000" dirty="0"/>
              <a:t>Asignatura: </a:t>
            </a:r>
            <a:r>
              <a:rPr lang="es-P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Estructura de datos</a:t>
            </a:r>
            <a:br>
              <a:rPr lang="es-ES" sz="2000" dirty="0"/>
            </a:br>
            <a:br>
              <a:rPr lang="es-ES" sz="2000" dirty="0"/>
            </a:br>
            <a:r>
              <a:rPr lang="es-ES" sz="2000" dirty="0"/>
              <a:t>NRC: </a:t>
            </a:r>
            <a:r>
              <a:rPr lang="es-PE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77084</a:t>
            </a:r>
            <a:endParaRPr lang="es-PE" dirty="0"/>
          </a:p>
        </p:txBody>
      </p:sp>
      <p:pic>
        <p:nvPicPr>
          <p:cNvPr id="1026" name="Picture 2" descr="Entendiendo administración de procesos en Sistemas Operativos -">
            <a:extLst>
              <a:ext uri="{FF2B5EF4-FFF2-40B4-BE49-F238E27FC236}">
                <a16:creationId xmlns:a16="http://schemas.microsoft.com/office/drawing/2014/main" id="{8D1A12F2-9099-4ACA-B405-0463C3F423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2" t="10684" r="9669" b="11339"/>
          <a:stretch/>
        </p:blipFill>
        <p:spPr bwMode="auto">
          <a:xfrm>
            <a:off x="6266327" y="3190742"/>
            <a:ext cx="2868707" cy="2497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D3FDB7D-E4CB-4B17-B6FE-441033DAB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1238" y="2523990"/>
            <a:ext cx="2580131" cy="316407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A50657D-07C4-4E99-938E-1D1A39ABD324}"/>
              </a:ext>
            </a:extLst>
          </p:cNvPr>
          <p:cNvSpPr txBox="1"/>
          <p:nvPr/>
        </p:nvSpPr>
        <p:spPr>
          <a:xfrm>
            <a:off x="4890620" y="6049744"/>
            <a:ext cx="2232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2025</a:t>
            </a:r>
            <a:endParaRPr lang="es-PE" sz="3600" b="1" dirty="0"/>
          </a:p>
        </p:txBody>
      </p:sp>
    </p:spTree>
    <p:extLst>
      <p:ext uri="{BB962C8B-B14F-4D97-AF65-F5344CB8AC3E}">
        <p14:creationId xmlns:p14="http://schemas.microsoft.com/office/powerpoint/2010/main" val="429637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9E1B0D92-AD51-41DC-8078-C42B9986D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74555" y="492251"/>
            <a:ext cx="4887257" cy="601444"/>
          </a:xfrm>
        </p:spPr>
        <p:txBody>
          <a:bodyPr>
            <a:normAutofit/>
          </a:bodyPr>
          <a:lstStyle/>
          <a:p>
            <a:r>
              <a:rPr lang="es-ES" sz="2800" dirty="0">
                <a:solidFill>
                  <a:schemeClr val="tx1"/>
                </a:solidFill>
              </a:rPr>
              <a:t>Propósito del proyecto</a:t>
            </a:r>
            <a:endParaRPr lang="es-PE" sz="2800" dirty="0">
              <a:solidFill>
                <a:schemeClr val="tx1"/>
              </a:solidFill>
            </a:endParaRP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8E8A1982-4D91-4946-B538-036A88BB646C}"/>
              </a:ext>
            </a:extLst>
          </p:cNvPr>
          <p:cNvSpPr txBox="1">
            <a:spLocks/>
          </p:cNvSpPr>
          <p:nvPr/>
        </p:nvSpPr>
        <p:spPr>
          <a:xfrm>
            <a:off x="947275" y="3429000"/>
            <a:ext cx="4627280" cy="6014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s-ES" sz="2800" dirty="0">
                <a:solidFill>
                  <a:schemeClr val="tx1"/>
                </a:solidFill>
              </a:rPr>
              <a:t>Objetivo del proyecto</a:t>
            </a:r>
            <a:endParaRPr lang="es-PE" sz="2800" dirty="0">
              <a:solidFill>
                <a:schemeClr val="tx1"/>
              </a:solidFill>
            </a:endParaRPr>
          </a:p>
        </p:txBody>
      </p:sp>
      <p:pic>
        <p:nvPicPr>
          <p:cNvPr id="2050" name="Picture 2" descr="Objetivos Buscados del Sistema Operativo – Sistemas Operativos">
            <a:extLst>
              <a:ext uri="{FF2B5EF4-FFF2-40B4-BE49-F238E27FC236}">
                <a16:creationId xmlns:a16="http://schemas.microsoft.com/office/drawing/2014/main" id="{B4F743B2-5CA6-4169-ADC2-723FE3A4D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576" y="492251"/>
            <a:ext cx="4217592" cy="2501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Qué es un sistema operativo y cómo funciona | Blog UE">
            <a:extLst>
              <a:ext uri="{FF2B5EF4-FFF2-40B4-BE49-F238E27FC236}">
                <a16:creationId xmlns:a16="http://schemas.microsoft.com/office/drawing/2014/main" id="{D8C769B7-FA6F-4602-9C6F-135146AD1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8974" y="3603811"/>
            <a:ext cx="5382025" cy="28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7752820-E4D2-4782-BAD1-39A0673C8613}"/>
              </a:ext>
            </a:extLst>
          </p:cNvPr>
          <p:cNvSpPr txBox="1"/>
          <p:nvPr/>
        </p:nvSpPr>
        <p:spPr>
          <a:xfrm>
            <a:off x="5654352" y="1268963"/>
            <a:ext cx="545840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dirty="0"/>
              <a:t>El propósito de este proyecto es </a:t>
            </a:r>
            <a:r>
              <a:rPr lang="es-ES" sz="1400" b="1" dirty="0"/>
              <a:t>comprender y simular la gestión interna de procesos que realiza un Sistema Operativo</a:t>
            </a:r>
            <a:r>
              <a:rPr lang="es-ES" sz="1400" dirty="0"/>
              <a:t>, utilizando estructuras de datos dinámicas en C++ (lista enlazada, cola con prioridad y pila). Se busca acercar al estudiante a la lógica real de cómo un sistema administra procesos, colas de ejecución y asignación de memoria, permitiendo observar su comportamiento de forma controlada y didáctica en un entorno de consola.</a:t>
            </a:r>
            <a:endParaRPr lang="es-PE" sz="14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3CB7331-E8C7-4AD6-A788-85FAA5B93C9F}"/>
              </a:ext>
            </a:extLst>
          </p:cNvPr>
          <p:cNvSpPr txBox="1"/>
          <p:nvPr/>
        </p:nvSpPr>
        <p:spPr>
          <a:xfrm>
            <a:off x="839755" y="4310743"/>
            <a:ext cx="446003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dirty="0"/>
              <a:t>Diseñar e implementar en C++ un sistema que permita </a:t>
            </a:r>
            <a:r>
              <a:rPr lang="es-ES" sz="1400" b="1" dirty="0"/>
              <a:t>registrar, planificar y administrar procesos</a:t>
            </a:r>
            <a:r>
              <a:rPr lang="es-ES" sz="1400" dirty="0"/>
              <a:t>, aplicando estructuras de datos lineales para simular el funcionamiento básico del Planificador de CPU y la gestión de memoria, logrando almacenar y manipular información de procesos de forma organizada, persistente y manejable por el usuario.</a:t>
            </a:r>
            <a:endParaRPr lang="es-PE" sz="1400" dirty="0"/>
          </a:p>
        </p:txBody>
      </p:sp>
    </p:spTree>
    <p:extLst>
      <p:ext uri="{BB962C8B-B14F-4D97-AF65-F5344CB8AC3E}">
        <p14:creationId xmlns:p14="http://schemas.microsoft.com/office/powerpoint/2010/main" val="992096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32D79-1EAB-491B-95C9-A0C5CA65E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026" y="206188"/>
            <a:ext cx="9432363" cy="841875"/>
          </a:xfrm>
        </p:spPr>
        <p:txBody>
          <a:bodyPr/>
          <a:lstStyle/>
          <a:p>
            <a:r>
              <a:rPr lang="es-ES" sz="5400">
                <a:solidFill>
                  <a:srgbClr val="92D050"/>
                </a:solidFill>
              </a:rPr>
              <a:t>Requerimientos Funcionales</a:t>
            </a:r>
            <a:endParaRPr lang="es-PE" sz="5400" dirty="0">
              <a:solidFill>
                <a:srgbClr val="92D050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31D920E-99C3-4616-A343-807213F97BAD}"/>
              </a:ext>
            </a:extLst>
          </p:cNvPr>
          <p:cNvSpPr txBox="1"/>
          <p:nvPr/>
        </p:nvSpPr>
        <p:spPr>
          <a:xfrm>
            <a:off x="564776" y="1308847"/>
            <a:ext cx="697454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8543" indent="-285750" rtl="0" fontAlgn="base">
              <a:spcBef>
                <a:spcPts val="12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s-ES" sz="1800" b="0" i="0" u="none" strike="noStrike">
                <a:effectLst/>
                <a:latin typeface="Arial" panose="020B0604020202020204" pitchFamily="34" charset="0"/>
              </a:rPr>
              <a:t>Registrar nuevos procesos con atributos como ID, </a:t>
            </a:r>
            <a:r>
              <a:rPr lang="es-ES" sz="2000" b="0" i="0" u="none" strike="noStrike">
                <a:effectLst/>
                <a:latin typeface="Arial" panose="020B0604020202020204" pitchFamily="34" charset="0"/>
              </a:rPr>
              <a:t>nombre, prioridad y estado.</a:t>
            </a:r>
          </a:p>
          <a:p>
            <a:pPr marL="638543" indent="-285750" rtl="0" fontAlgn="base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s-ES" sz="2000" b="0" i="0" u="none" strike="noStrike">
                <a:effectLst/>
                <a:latin typeface="Arial" panose="020B0604020202020204" pitchFamily="34" charset="0"/>
              </a:rPr>
              <a:t>Buscar procesos por identificador o nombre.</a:t>
            </a:r>
          </a:p>
          <a:p>
            <a:pPr marL="638543" indent="-285750" rtl="0" fontAlgn="base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s-ES" sz="2000" b="0" i="0" u="none" strike="noStrike">
                <a:effectLst/>
                <a:latin typeface="Arial" panose="020B0604020202020204" pitchFamily="34" charset="0"/>
              </a:rPr>
              <a:t>Modificar el estado o la prioridad de un proceso existente.</a:t>
            </a:r>
          </a:p>
          <a:p>
            <a:pPr marL="638543" indent="-285750" rtl="0" fontAlgn="base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s-ES" sz="2000" b="0" i="0" u="none" strike="noStrike">
                <a:effectLst/>
                <a:latin typeface="Arial" panose="020B0604020202020204" pitchFamily="34" charset="0"/>
              </a:rPr>
              <a:t>Eliminar procesos registrados.</a:t>
            </a:r>
          </a:p>
          <a:p>
            <a:pPr marL="638543" indent="-285750" rtl="0" fontAlgn="base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s-ES" sz="2000" b="0" i="0" u="none" strike="noStrike">
                <a:effectLst/>
                <a:latin typeface="Arial" panose="020B0604020202020204" pitchFamily="34" charset="0"/>
              </a:rPr>
              <a:t>Simular la planificación de procesos mediante una cola de prioridad.</a:t>
            </a:r>
          </a:p>
          <a:p>
            <a:pPr marL="638543" indent="-285750" rtl="0" fontAlgn="base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s-ES" sz="2000" b="0" i="0" u="none" strike="noStrike">
                <a:effectLst/>
                <a:latin typeface="Arial" panose="020B0604020202020204" pitchFamily="34" charset="0"/>
              </a:rPr>
              <a:t>Administrar la memoria utilizando una pila para asignar y liberar bloques.</a:t>
            </a:r>
          </a:p>
          <a:p>
            <a:pPr marL="638543" indent="-285750" rtl="0" fontAlgn="base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s-ES" sz="2000" b="0" i="0" u="none" strike="noStrike">
                <a:effectLst/>
                <a:latin typeface="Arial" panose="020B0604020202020204" pitchFamily="34" charset="0"/>
              </a:rPr>
              <a:t>Guardar y cargar la información del sistema desde archivos de texto (persistencia de datos).</a:t>
            </a:r>
          </a:p>
          <a:p>
            <a:pPr marL="638543" indent="-285750" rtl="0" fontAlgn="base">
              <a:spcBef>
                <a:spcPts val="0"/>
              </a:spcBef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s-ES" sz="2000" b="0" i="0" u="none" strike="noStrike">
                <a:effectLst/>
                <a:latin typeface="Arial" panose="020B0604020202020204" pitchFamily="34" charset="0"/>
              </a:rPr>
              <a:t>Mostrar en consola el estado actual de los procesos, la cola de ejecución y la pila de memoria.</a:t>
            </a:r>
          </a:p>
          <a:p>
            <a:endParaRPr lang="es-PE" dirty="0"/>
          </a:p>
        </p:txBody>
      </p:sp>
      <p:pic>
        <p:nvPicPr>
          <p:cNvPr id="3074" name="Picture 2" descr="Requerimientos funcionales: Los niveles de granularidad - La Oficina de  Proyectos de Informática">
            <a:extLst>
              <a:ext uri="{FF2B5EF4-FFF2-40B4-BE49-F238E27FC236}">
                <a16:creationId xmlns:a16="http://schemas.microsoft.com/office/drawing/2014/main" id="{8B39BF64-99DB-4183-8E9A-86F1F8EE9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1" y="1883213"/>
            <a:ext cx="3550023" cy="385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694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32D79-1EAB-491B-95C9-A0C5CA65E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7929" y="179294"/>
            <a:ext cx="11117727" cy="841875"/>
          </a:xfrm>
        </p:spPr>
        <p:txBody>
          <a:bodyPr/>
          <a:lstStyle/>
          <a:p>
            <a:r>
              <a:rPr lang="es-ES" sz="5400" dirty="0">
                <a:solidFill>
                  <a:srgbClr val="92D050"/>
                </a:solidFill>
              </a:rPr>
              <a:t>Requerimientos no Funcionales</a:t>
            </a:r>
            <a:endParaRPr lang="es-PE" sz="5400" dirty="0">
              <a:solidFill>
                <a:srgbClr val="92D050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31D920E-99C3-4616-A343-807213F97BAD}"/>
              </a:ext>
            </a:extLst>
          </p:cNvPr>
          <p:cNvSpPr txBox="1"/>
          <p:nvPr/>
        </p:nvSpPr>
        <p:spPr>
          <a:xfrm>
            <a:off x="564776" y="1308847"/>
            <a:ext cx="628425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8543" indent="-285750" rtl="0" fontAlgn="base">
              <a:spcBef>
                <a:spcPts val="120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s-ES" sz="2000" b="0" i="0" u="none" strike="noStrike" dirty="0">
                <a:effectLst/>
                <a:latin typeface="Arial" panose="020B0604020202020204" pitchFamily="34" charset="0"/>
              </a:rPr>
              <a:t>El sistema debe contar con una interfaz por consola simple e intuitiva.</a:t>
            </a:r>
            <a:br>
              <a:rPr lang="es-ES" sz="2000" b="0" i="0" u="none" strike="noStrike" dirty="0">
                <a:effectLst/>
                <a:latin typeface="Arial" panose="020B0604020202020204" pitchFamily="34" charset="0"/>
              </a:rPr>
            </a:br>
            <a:endParaRPr lang="es-ES" sz="2000" b="0" i="0" u="none" strike="noStrike" dirty="0">
              <a:effectLst/>
              <a:latin typeface="Arial" panose="020B0604020202020204" pitchFamily="34" charset="0"/>
            </a:endParaRPr>
          </a:p>
          <a:p>
            <a:pPr marL="638543" indent="-285750" rtl="0" fontAlgn="base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s-ES" sz="2000" b="0" i="0" u="none" strike="noStrike" dirty="0">
                <a:effectLst/>
                <a:latin typeface="Arial" panose="020B0604020202020204" pitchFamily="34" charset="0"/>
              </a:rPr>
              <a:t>El código debe estar modularizado, comentado y estructurado conforme a buenas prácticas.</a:t>
            </a:r>
            <a:br>
              <a:rPr lang="es-ES" sz="2000" b="0" i="0" u="none" strike="noStrike" dirty="0">
                <a:effectLst/>
                <a:latin typeface="Arial" panose="020B0604020202020204" pitchFamily="34" charset="0"/>
              </a:rPr>
            </a:br>
            <a:endParaRPr lang="es-ES" sz="2000" b="0" i="0" u="none" strike="noStrike" dirty="0">
              <a:effectLst/>
              <a:latin typeface="Arial" panose="020B0604020202020204" pitchFamily="34" charset="0"/>
            </a:endParaRPr>
          </a:p>
          <a:p>
            <a:pPr marL="638543" indent="-285750" rtl="0" fontAlgn="base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s-ES" sz="2000" b="0" i="0" u="none" strike="noStrike" dirty="0">
                <a:effectLst/>
                <a:latin typeface="Arial" panose="020B0604020202020204" pitchFamily="34" charset="0"/>
              </a:rPr>
              <a:t>Se deben implementar las estructuras dinámicas desde cero, sin usar librerías externas.</a:t>
            </a:r>
            <a:br>
              <a:rPr lang="es-ES" sz="2000" b="0" i="0" u="none" strike="noStrike" dirty="0">
                <a:effectLst/>
                <a:latin typeface="Arial" panose="020B0604020202020204" pitchFamily="34" charset="0"/>
              </a:rPr>
            </a:br>
            <a:endParaRPr lang="es-ES" sz="2000" b="0" i="0" u="none" strike="noStrike" dirty="0">
              <a:effectLst/>
              <a:latin typeface="Arial" panose="020B0604020202020204" pitchFamily="34" charset="0"/>
            </a:endParaRPr>
          </a:p>
          <a:p>
            <a:pPr marL="638543" indent="-285750" rtl="0" fontAlgn="base">
              <a:spcBef>
                <a:spcPts val="0"/>
              </a:spcBef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s-ES" sz="2000" b="0" i="0" u="none" strike="noStrike" dirty="0">
                <a:effectLst/>
                <a:latin typeface="Arial" panose="020B0604020202020204" pitchFamily="34" charset="0"/>
              </a:rPr>
              <a:t>El programa debe ser eficiente en el uso de memoria y en la ejecución de operaciones.</a:t>
            </a:r>
          </a:p>
          <a:p>
            <a:pPr marL="638543" indent="-285750" fontAlgn="base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s-ES" sz="2000" b="0" i="0" u="none" strike="noStrike" dirty="0">
                <a:effectLst/>
                <a:latin typeface="Arial" panose="020B0604020202020204" pitchFamily="34" charset="0"/>
              </a:rPr>
              <a:t>Debe mantener estabilidad y manejo adecuado de errores durante la ejecución.</a:t>
            </a:r>
          </a:p>
        </p:txBody>
      </p:sp>
      <p:pic>
        <p:nvPicPr>
          <p:cNvPr id="4098" name="Picture 2" descr="requerimientos no funcionales software">
            <a:extLst>
              <a:ext uri="{FF2B5EF4-FFF2-40B4-BE49-F238E27FC236}">
                <a16:creationId xmlns:a16="http://schemas.microsoft.com/office/drawing/2014/main" id="{836994FE-E5D4-42EC-B7E0-7B2CA6931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161" y="1971905"/>
            <a:ext cx="4843463" cy="3892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4299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32D79-1EAB-491B-95C9-A0C5CA65E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388" y="322729"/>
            <a:ext cx="8722659" cy="904628"/>
          </a:xfrm>
        </p:spPr>
        <p:txBody>
          <a:bodyPr/>
          <a:lstStyle/>
          <a:p>
            <a:r>
              <a:rPr lang="es-ES" sz="5400" dirty="0">
                <a:solidFill>
                  <a:srgbClr val="92D050"/>
                </a:solidFill>
              </a:rPr>
              <a:t>Restricciones del Sistema</a:t>
            </a:r>
            <a:endParaRPr lang="es-PE" sz="5400" dirty="0">
              <a:solidFill>
                <a:srgbClr val="92D050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70D919D-F5CA-4A5F-9688-9A5BD8F26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388" y="1921716"/>
            <a:ext cx="1045961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valida correctamente entradas numéricas (si el usuario ingresa letras o valores fuera de rango, el programa puede fallar o comportarse incorrectamente).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 prioridades pueden ser cualquier número (no se hace validación estricta 1 – 10).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estado del proceso es texto libre, sin validación (se pueden escribir valores incorrectos).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 se elimina un proceso, ese proceso puede seguir existiendo aún en la cola (no se sincroniza eliminación con la cola de prioridad).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memoria se asigna y libera solo en forma de pila (LIFO) — solo se puede liberar el último bloque agregado.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existe límite máximo de bloques de memoria ni de procesos (se puede desbordar el uso de memoria).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cola de prioridad no garantiza orden FIFO para procesos con igual prioridad.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existe control sobre nombres duplicados de procesos.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estructura depende de archivos de texto externos y si están corruptos, puede fallar la carga.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sobrescriben los archivos al guardar (no se generan copias de respaldo).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hay manejo avanzado de errores de entrada/salida.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simula concurrencia real — solo gestiona estructuras de datos secuenciales.</a:t>
            </a:r>
          </a:p>
        </p:txBody>
      </p:sp>
    </p:spTree>
    <p:extLst>
      <p:ext uri="{BB962C8B-B14F-4D97-AF65-F5344CB8AC3E}">
        <p14:creationId xmlns:p14="http://schemas.microsoft.com/office/powerpoint/2010/main" val="679151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32D79-1EAB-491B-95C9-A0C5CA65E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17" y="143435"/>
            <a:ext cx="9717741" cy="1039905"/>
          </a:xfrm>
        </p:spPr>
        <p:txBody>
          <a:bodyPr/>
          <a:lstStyle/>
          <a:p>
            <a:r>
              <a:rPr lang="es-ES" sz="5400" dirty="0">
                <a:solidFill>
                  <a:srgbClr val="92D050"/>
                </a:solidFill>
              </a:rPr>
              <a:t>Diagrama de administrador</a:t>
            </a:r>
            <a:endParaRPr lang="es-PE" sz="5400" dirty="0">
              <a:solidFill>
                <a:srgbClr val="92D05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C50C621-DE4C-459E-B1F9-095DB5BF0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263" y="1323792"/>
            <a:ext cx="9547412" cy="475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6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32D79-1EAB-491B-95C9-A0C5CA65E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388" y="322729"/>
            <a:ext cx="8722659" cy="904628"/>
          </a:xfrm>
        </p:spPr>
        <p:txBody>
          <a:bodyPr/>
          <a:lstStyle/>
          <a:p>
            <a:r>
              <a:rPr lang="es-ES" sz="5400" dirty="0">
                <a:solidFill>
                  <a:srgbClr val="92D050"/>
                </a:solidFill>
              </a:rPr>
              <a:t>Justificación del Diseño</a:t>
            </a:r>
            <a:endParaRPr lang="es-PE" sz="5400" dirty="0">
              <a:solidFill>
                <a:srgbClr val="92D050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70D919D-F5CA-4A5F-9688-9A5BD8F26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388" y="1536995"/>
            <a:ext cx="10459616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69989" algn="just" rtl="0">
              <a:spcBef>
                <a:spcPts val="1200"/>
              </a:spcBef>
              <a:spcAft>
                <a:spcPts val="1200"/>
              </a:spcAft>
            </a:pPr>
            <a:r>
              <a:rPr lang="es-ES" sz="1800" b="0" i="0" u="none" strike="noStrike" dirty="0">
                <a:effectLst/>
                <a:latin typeface="Arial" panose="020B0604020202020204" pitchFamily="34" charset="0"/>
              </a:rPr>
              <a:t>Diseñamos el sistema en base a un menú principal con tres módulos y una opción para salir, lo que facilita la navegación y organización del código. Cada módulo cuenta con su propio submenú que agrupa las operaciones de su respectiva estructura de datos. Esta organización modular permite mantener el código ordenado, escalable y fácil de depurar.</a:t>
            </a:r>
            <a:endParaRPr lang="es-ES" sz="1600" b="0" dirty="0">
              <a:effectLst/>
            </a:endParaRPr>
          </a:p>
          <a:p>
            <a:pPr marL="269989" algn="just" rtl="0">
              <a:spcBef>
                <a:spcPts val="1200"/>
              </a:spcBef>
              <a:spcAft>
                <a:spcPts val="1200"/>
              </a:spcAft>
            </a:pPr>
            <a:r>
              <a:rPr lang="es-ES" sz="1800" b="0" i="0" u="none" strike="noStrike" dirty="0">
                <a:effectLst/>
                <a:latin typeface="Arial" panose="020B0604020202020204" pitchFamily="34" charset="0"/>
              </a:rPr>
              <a:t>Elegimos implementar las estructuras mediante punteros porque ofrecen un control directo sobre la memoria y permiten manejar los elementos de forma dinámica, sin limitar el número de procesos o bloques almacenados. De esta manera, logramos un sistema flexible que simula el comportamiento de un entorno real de administración de procesos.</a:t>
            </a:r>
            <a:endParaRPr lang="es-ES" sz="1600" b="0" dirty="0">
              <a:effectLst/>
            </a:endParaRPr>
          </a:p>
          <a:p>
            <a:pPr marL="269989" algn="just" rtl="0">
              <a:spcBef>
                <a:spcPts val="1200"/>
              </a:spcBef>
              <a:spcAft>
                <a:spcPts val="1200"/>
              </a:spcAft>
            </a:pPr>
            <a:r>
              <a:rPr lang="es-ES" sz="1800" b="0" i="0" u="none" strike="noStrike" dirty="0">
                <a:effectLst/>
                <a:latin typeface="Arial" panose="020B0604020202020204" pitchFamily="34" charset="0"/>
              </a:rPr>
              <a:t>Además, el diseño propuesto facilita la integración de las tres estructuras en un único programa, cumpliendo con los requerimientos de la consigna y aprovechando los programas base proporcionados como guía. Cada módulo funcionará de manera independiente, pero estará conectado a través del menú principal, permitiendo una interacción fluida y coherente entre las diferentes partes del sistema.</a:t>
            </a:r>
            <a:endParaRPr lang="es-ES" sz="1600" b="0" dirty="0">
              <a:effectLst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CEBE6F8-0500-48CB-83CD-F720EA754396}"/>
              </a:ext>
            </a:extLst>
          </p:cNvPr>
          <p:cNvSpPr txBox="1"/>
          <p:nvPr/>
        </p:nvSpPr>
        <p:spPr>
          <a:xfrm>
            <a:off x="999067" y="5970839"/>
            <a:ext cx="927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GitHub: https://github.com/Sofia7744/Sistema_de_Gestion_de_Procesos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90105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Gracias - Iconos gratis de comunicaciones">
            <a:extLst>
              <a:ext uri="{FF2B5EF4-FFF2-40B4-BE49-F238E27FC236}">
                <a16:creationId xmlns:a16="http://schemas.microsoft.com/office/drawing/2014/main" id="{63B8CD7F-A523-41BA-8E0F-FEE4E0FDF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575" y="1724025"/>
            <a:ext cx="3409949" cy="3409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9251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198</TotalTime>
  <Words>777</Words>
  <Application>Microsoft Office PowerPoint</Application>
  <PresentationFormat>Panorámica</PresentationFormat>
  <Paragraphs>43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Courier New</vt:lpstr>
      <vt:lpstr>Wingdings 3</vt:lpstr>
      <vt:lpstr>Ion</vt:lpstr>
      <vt:lpstr>Simulación del Administrador de </vt:lpstr>
      <vt:lpstr>Presentación de PowerPoint</vt:lpstr>
      <vt:lpstr>Requerimientos Funcionales</vt:lpstr>
      <vt:lpstr>Requerimientos no Funcionales</vt:lpstr>
      <vt:lpstr>Restricciones del Sistema</vt:lpstr>
      <vt:lpstr>Diagrama de administrador</vt:lpstr>
      <vt:lpstr>Justificación del Diseño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Simulación del Administrador de</dc:title>
  <dc:creator>ANGEL VELASQUEZ CARHUANCHO</dc:creator>
  <cp:lastModifiedBy>admin</cp:lastModifiedBy>
  <cp:revision>8</cp:revision>
  <dcterms:created xsi:type="dcterms:W3CDTF">2025-11-04T00:07:23Z</dcterms:created>
  <dcterms:modified xsi:type="dcterms:W3CDTF">2025-11-04T12:37:32Z</dcterms:modified>
</cp:coreProperties>
</file>